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2"/>
  </p:notesMasterIdLst>
  <p:handoutMasterIdLst>
    <p:handoutMasterId r:id="rId13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0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06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721AE9-A1DA-4E3C-AA14-342EE488A14D}" v="15" dt="2026-09-30T14:01:10.6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06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thyakalyani3189@outlook.com" userId="b06313d265b45fe7" providerId="LiveId" clId="{786B210E-FB09-45FB-BDF3-E9184CF3D15D}"/>
    <pc:docChg chg="custSel modSld">
      <pc:chgData name="nithyakalyani3189@outlook.com" userId="b06313d265b45fe7" providerId="LiveId" clId="{786B210E-FB09-45FB-BDF3-E9184CF3D15D}" dt="2026-09-30T14:03:16.298" v="51" actId="478"/>
      <pc:docMkLst>
        <pc:docMk/>
      </pc:docMkLst>
      <pc:sldChg chg="delSp mod">
        <pc:chgData name="nithyakalyani3189@outlook.com" userId="b06313d265b45fe7" providerId="LiveId" clId="{786B210E-FB09-45FB-BDF3-E9184CF3D15D}" dt="2026-09-30T14:03:16.298" v="51" actId="478"/>
        <pc:sldMkLst>
          <pc:docMk/>
          <pc:sldMk cId="3401748718" sldId="304"/>
        </pc:sldMkLst>
        <pc:spChg chg="del">
          <ac:chgData name="nithyakalyani3189@outlook.com" userId="b06313d265b45fe7" providerId="LiveId" clId="{786B210E-FB09-45FB-BDF3-E9184CF3D15D}" dt="2026-09-30T14:03:16.298" v="51" actId="478"/>
          <ac:spMkLst>
            <pc:docMk/>
            <pc:sldMk cId="3401748718" sldId="304"/>
            <ac:spMk id="12" creationId="{BC277FD7-925B-4C3D-A364-118403201507}"/>
          </ac:spMkLst>
        </pc:spChg>
      </pc:sldChg>
      <pc:sldChg chg="modSp mod modAnim">
        <pc:chgData name="nithyakalyani3189@outlook.com" userId="b06313d265b45fe7" providerId="LiveId" clId="{786B210E-FB09-45FB-BDF3-E9184CF3D15D}" dt="2026-09-30T13:59:59.954" v="16" actId="1076"/>
        <pc:sldMkLst>
          <pc:docMk/>
          <pc:sldMk cId="1604013440" sldId="338"/>
        </pc:sldMkLst>
        <pc:spChg chg="mod">
          <ac:chgData name="nithyakalyani3189@outlook.com" userId="b06313d265b45fe7" providerId="LiveId" clId="{786B210E-FB09-45FB-BDF3-E9184CF3D15D}" dt="2026-09-30T13:59:59.954" v="16" actId="1076"/>
          <ac:spMkLst>
            <pc:docMk/>
            <pc:sldMk cId="1604013440" sldId="338"/>
            <ac:spMk id="2" creationId="{7201737A-B873-4D1D-8A41-5ABF5184BC8F}"/>
          </ac:spMkLst>
        </pc:spChg>
      </pc:sldChg>
      <pc:sldChg chg="addSp delSp modSp mod delAnim modAnim">
        <pc:chgData name="nithyakalyani3189@outlook.com" userId="b06313d265b45fe7" providerId="LiveId" clId="{786B210E-FB09-45FB-BDF3-E9184CF3D15D}" dt="2026-09-30T14:03:03.325" v="50" actId="14100"/>
        <pc:sldMkLst>
          <pc:docMk/>
          <pc:sldMk cId="1086225493" sldId="339"/>
        </pc:sldMkLst>
        <pc:spChg chg="add del mod">
          <ac:chgData name="nithyakalyani3189@outlook.com" userId="b06313d265b45fe7" providerId="LiveId" clId="{786B210E-FB09-45FB-BDF3-E9184CF3D15D}" dt="2026-09-30T14:01:17.421" v="29"/>
          <ac:spMkLst>
            <pc:docMk/>
            <pc:sldMk cId="1086225493" sldId="339"/>
            <ac:spMk id="3" creationId="{43C790F3-6F27-827E-35FB-F71BC1064BE6}"/>
          </ac:spMkLst>
        </pc:spChg>
        <pc:spChg chg="del mod">
          <ac:chgData name="nithyakalyani3189@outlook.com" userId="b06313d265b45fe7" providerId="LiveId" clId="{786B210E-FB09-45FB-BDF3-E9184CF3D15D}" dt="2026-09-30T14:01:17.420" v="27" actId="478"/>
          <ac:spMkLst>
            <pc:docMk/>
            <pc:sldMk cId="1086225493" sldId="339"/>
            <ac:spMk id="10" creationId="{B19D8AC7-3787-4ADB-9212-0808F015C2DD}"/>
          </ac:spMkLst>
        </pc:spChg>
        <pc:picChg chg="add mod">
          <ac:chgData name="nithyakalyani3189@outlook.com" userId="b06313d265b45fe7" providerId="LiveId" clId="{786B210E-FB09-45FB-BDF3-E9184CF3D15D}" dt="2026-09-30T14:01:06.844" v="25" actId="1076"/>
          <ac:picMkLst>
            <pc:docMk/>
            <pc:sldMk cId="1086225493" sldId="339"/>
            <ac:picMk id="6" creationId="{0B83DFC3-AE06-0EBB-1FEB-EEE0A545137C}"/>
          </ac:picMkLst>
        </pc:picChg>
        <pc:picChg chg="add mod">
          <ac:chgData name="nithyakalyani3189@outlook.com" userId="b06313d265b45fe7" providerId="LiveId" clId="{786B210E-FB09-45FB-BDF3-E9184CF3D15D}" dt="2026-09-30T14:01:53.170" v="35" actId="14100"/>
          <ac:picMkLst>
            <pc:docMk/>
            <pc:sldMk cId="1086225493" sldId="339"/>
            <ac:picMk id="11" creationId="{B5A920D1-7884-0440-6305-1546946788B2}"/>
          </ac:picMkLst>
        </pc:picChg>
        <pc:picChg chg="add mod">
          <ac:chgData name="nithyakalyani3189@outlook.com" userId="b06313d265b45fe7" providerId="LiveId" clId="{786B210E-FB09-45FB-BDF3-E9184CF3D15D}" dt="2026-09-30T14:02:32.432" v="43" actId="1076"/>
          <ac:picMkLst>
            <pc:docMk/>
            <pc:sldMk cId="1086225493" sldId="339"/>
            <ac:picMk id="12" creationId="{C79DE536-36E3-3567-389F-85AD6E41D0CA}"/>
          </ac:picMkLst>
        </pc:picChg>
        <pc:picChg chg="add mod">
          <ac:chgData name="nithyakalyani3189@outlook.com" userId="b06313d265b45fe7" providerId="LiveId" clId="{786B210E-FB09-45FB-BDF3-E9184CF3D15D}" dt="2026-09-30T14:03:03.325" v="50" actId="14100"/>
          <ac:picMkLst>
            <pc:docMk/>
            <pc:sldMk cId="1086225493" sldId="339"/>
            <ac:picMk id="13" creationId="{C512CA1F-0733-C42C-8FF2-5D74D710EDE2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9/30/2026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9/30/2026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7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38430" y="3968198"/>
            <a:ext cx="4072100" cy="861497"/>
          </a:xfrm>
        </p:spPr>
        <p:txBody>
          <a:bodyPr>
            <a:normAutofit fontScale="85000" lnSpcReduction="10000"/>
          </a:bodyPr>
          <a:lstStyle/>
          <a:p>
            <a:pPr algn="r"/>
            <a:r>
              <a:rPr lang="en-US" b="0" dirty="0" err="1">
                <a:solidFill>
                  <a:schemeClr val="tx1"/>
                </a:solidFill>
              </a:rPr>
              <a:t>Y.Nithya</a:t>
            </a:r>
            <a:r>
              <a:rPr lang="en-US" b="0" dirty="0">
                <a:solidFill>
                  <a:schemeClr val="tx1"/>
                </a:solidFill>
              </a:rPr>
              <a:t> </a:t>
            </a:r>
            <a:r>
              <a:rPr lang="en-US" b="0" dirty="0" err="1">
                <a:solidFill>
                  <a:schemeClr val="tx1"/>
                </a:solidFill>
              </a:rPr>
              <a:t>kalyani</a:t>
            </a:r>
            <a:endParaRPr lang="en-US" b="0" dirty="0">
              <a:solidFill>
                <a:schemeClr val="tx1"/>
              </a:solidFill>
            </a:endParaRPr>
          </a:p>
          <a:p>
            <a:pPr algn="r"/>
            <a:r>
              <a:rPr lang="en-US" b="0" dirty="0">
                <a:solidFill>
                  <a:schemeClr val="tx1"/>
                </a:solidFill>
              </a:rPr>
              <a:t>Stu id:STU68494473c73061749632115</a:t>
            </a:r>
          </a:p>
          <a:p>
            <a:pPr algn="r"/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7A301E8-2780-A727-2E26-E08715849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Healthcare Analytics for Doctor </a:t>
            </a:r>
            <a:r>
              <a:rPr lang="en-US" dirty="0" err="1"/>
              <a:t>Vists</a:t>
            </a:r>
            <a:r>
              <a:rPr lang="en-US" dirty="0"/>
              <a:t>_</a:t>
            </a:r>
            <a:r>
              <a:rPr lang="en-IN" dirty="0"/>
              <a:t>TIRTC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>
            <a:normAutofit fontScale="70000" lnSpcReduction="20000"/>
          </a:bodyPr>
          <a:lstStyle/>
          <a:p>
            <a:r>
              <a:rPr lang="en-IN" sz="2800" dirty="0"/>
              <a:t>Healthcare providers need to understand the factors that influence how frequently patients visit doctors. </a:t>
            </a:r>
            <a:r>
              <a:rPr lang="en-IN" sz="2800" dirty="0" err="1"/>
              <a:t>Analyzing</a:t>
            </a:r>
            <a:r>
              <a:rPr lang="en-IN" sz="2800" dirty="0"/>
              <a:t> patient information such as </a:t>
            </a:r>
            <a:r>
              <a:rPr lang="en-IN" sz="2800" b="1" dirty="0"/>
              <a:t>age, gender, income, illness, health status, chronic conditions, and healthcare access</a:t>
            </a:r>
            <a:r>
              <a:rPr lang="en-IN" sz="2800" dirty="0"/>
              <a:t> can help identify patterns in doctor visits.</a:t>
            </a:r>
          </a:p>
          <a:p>
            <a:r>
              <a:rPr lang="en-IN" sz="2800" dirty="0"/>
              <a:t>This project aims to </a:t>
            </a:r>
            <a:r>
              <a:rPr lang="en-IN" sz="2800" b="1" dirty="0" err="1"/>
              <a:t>analyze</a:t>
            </a:r>
            <a:r>
              <a:rPr lang="en-IN" sz="2800" b="1" dirty="0"/>
              <a:t> healthcare data and identify the key factors associated with doctor-visit frequency</a:t>
            </a:r>
            <a:r>
              <a:rPr lang="en-IN" sz="2800" dirty="0"/>
              <a:t>, using data analysis and machine learning techniques to generate meaningful healthcare insights and predict patients who may require more frequent medical visits.</a:t>
            </a:r>
          </a:p>
          <a:p>
            <a:pPr>
              <a:lnSpc>
                <a:spcPct val="150000"/>
              </a:lnSpc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34474D-897D-3626-D065-0468C08892A6}"/>
              </a:ext>
            </a:extLst>
          </p:cNvPr>
          <p:cNvSpPr txBox="1"/>
          <p:nvPr/>
        </p:nvSpPr>
        <p:spPr>
          <a:xfrm>
            <a:off x="647700" y="2532588"/>
            <a:ext cx="807997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Healthcare Analytics for Doctor Visits</a:t>
            </a:r>
            <a:r>
              <a:rPr lang="en-IN" dirty="0"/>
              <a:t> is a data analytics and machine learning project that </a:t>
            </a:r>
            <a:r>
              <a:rPr lang="en-IN" dirty="0" err="1"/>
              <a:t>analyzes</a:t>
            </a:r>
            <a:r>
              <a:rPr lang="en-IN" dirty="0"/>
              <a:t> patient healthcare data to understand patterns in doctor visits. The project examines factors such as </a:t>
            </a:r>
            <a:r>
              <a:rPr lang="en-IN" b="1" dirty="0"/>
              <a:t>age, gender, income, illness, health status, chronic conditions, and healthcare access</a:t>
            </a:r>
            <a:r>
              <a:rPr lang="en-IN" dirty="0"/>
              <a:t>. Using </a:t>
            </a:r>
            <a:r>
              <a:rPr lang="en-IN" b="1" dirty="0"/>
              <a:t>Python, Pandas, NumPy, Matplotlib, Seaborn, and Scikit-learn</a:t>
            </a:r>
            <a:r>
              <a:rPr lang="en-IN" dirty="0"/>
              <a:t>, the data is cleaned, explored, and visualized to identify important healthcare trends. A </a:t>
            </a:r>
            <a:r>
              <a:rPr lang="en-IN" b="1" dirty="0"/>
              <a:t>Random Forest machine learning model</a:t>
            </a:r>
            <a:r>
              <a:rPr lang="en-IN" dirty="0"/>
              <a:t> is also used to predict patients who may have frequent doctor visits based on their healthcare and demographic characteristics.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 fontScale="62500" lnSpcReduction="20000"/>
          </a:bodyPr>
          <a:lstStyle/>
          <a:p>
            <a:pPr lvl="0"/>
            <a:r>
              <a:rPr lang="en-IN" sz="3600" b="1" dirty="0"/>
              <a:t>Doctors and Healthcare Professionals</a:t>
            </a:r>
            <a:r>
              <a:rPr lang="en-IN" sz="3600" dirty="0"/>
              <a:t> – to understand patient visit patterns and identify patients who may require frequent medical attention. </a:t>
            </a:r>
          </a:p>
          <a:p>
            <a:pPr lvl="0"/>
            <a:r>
              <a:rPr lang="en-IN" sz="3600" b="1" dirty="0"/>
              <a:t>Hospitals and Clinics</a:t>
            </a:r>
            <a:r>
              <a:rPr lang="en-IN" sz="3600" dirty="0"/>
              <a:t> – to </a:t>
            </a:r>
            <a:r>
              <a:rPr lang="en-IN" sz="3600" dirty="0" err="1"/>
              <a:t>analyze</a:t>
            </a:r>
            <a:r>
              <a:rPr lang="en-IN" sz="3600" dirty="0"/>
              <a:t> healthcare utilization and improve resource planning. </a:t>
            </a:r>
          </a:p>
          <a:p>
            <a:pPr lvl="0"/>
            <a:r>
              <a:rPr lang="en-IN" sz="3600" b="1" dirty="0"/>
              <a:t>Healthcare Administrators</a:t>
            </a:r>
            <a:r>
              <a:rPr lang="en-IN" sz="3600" dirty="0"/>
              <a:t> – to support data-driven decisions regarding staffing and healthcare services. </a:t>
            </a:r>
          </a:p>
          <a:p>
            <a:pPr lvl="0"/>
            <a:r>
              <a:rPr lang="en-IN" sz="3600" b="1" dirty="0"/>
              <a:t>Healthcare Analysts and Researchers</a:t>
            </a:r>
            <a:r>
              <a:rPr lang="en-IN" sz="3600" dirty="0"/>
              <a:t> – to study factors influencing doctor visits and identify healthcare trends. </a:t>
            </a:r>
          </a:p>
          <a:p>
            <a:pPr lvl="0"/>
            <a:r>
              <a:rPr lang="en-IN" sz="3600" b="1" dirty="0"/>
              <a:t>Patients</a:t>
            </a:r>
            <a:r>
              <a:rPr lang="en-IN" sz="3600" dirty="0"/>
              <a:t> – indirectly, through improved healthcare planning and service availability.</a:t>
            </a:r>
          </a:p>
          <a:p>
            <a:pPr algn="just">
              <a:lnSpc>
                <a:spcPct val="150000"/>
              </a:lnSpc>
            </a:pPr>
            <a:endParaRPr lang="en-US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52839" y="1463105"/>
            <a:ext cx="9027702" cy="5243448"/>
          </a:xfrm>
        </p:spPr>
        <p:txBody>
          <a:bodyPr/>
          <a:lstStyle/>
          <a:p>
            <a:pPr lvl="0"/>
            <a:r>
              <a:rPr lang="en-IN" b="1" dirty="0"/>
              <a:t>Python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Google </a:t>
            </a:r>
            <a:r>
              <a:rPr lang="en-IN" b="1" dirty="0" err="1"/>
              <a:t>Colab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Pandas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NumPy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Matplotlib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Seaborn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Scikit-learn</a:t>
            </a:r>
            <a:r>
              <a:rPr lang="en-IN" dirty="0"/>
              <a:t> </a:t>
            </a:r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83DFC3-AE06-0EBB-1FEB-EEE0A54513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1201586"/>
            <a:ext cx="3669738" cy="23160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5A920D1-7884-0440-6305-1546946788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7852" y="1246601"/>
            <a:ext cx="3575684" cy="24787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79DE536-36E3-3567-389F-85AD6E41D0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957" y="3546411"/>
            <a:ext cx="3756084" cy="25547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12CA1F-0733-C42C-8FF2-5D74D710ED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5501" y="3629193"/>
            <a:ext cx="3510002" cy="2750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581</TotalTime>
  <Words>309</Words>
  <Application>Microsoft Office PowerPoint</Application>
  <PresentationFormat>Widescreen</PresentationFormat>
  <Paragraphs>28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Trebuchet MS</vt:lpstr>
      <vt:lpstr>Wingdings</vt:lpstr>
      <vt:lpstr>Wingdings 3</vt:lpstr>
      <vt:lpstr>Facet</vt:lpstr>
      <vt:lpstr>Healthcare Analytics for Doctor Vists_TIRTC</vt:lpstr>
      <vt:lpstr>PROBLEM  STATEMENT</vt:lpstr>
      <vt:lpstr>Project Description  </vt:lpstr>
      <vt:lpstr>WHO ARE THE END USERS?</vt:lpstr>
      <vt:lpstr>Technology Used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nithyakalyani3189@outlook.com</cp:lastModifiedBy>
  <cp:revision>74</cp:revision>
  <dcterms:created xsi:type="dcterms:W3CDTF">2021-07-11T13:13:15Z</dcterms:created>
  <dcterms:modified xsi:type="dcterms:W3CDTF">2026-09-30T14:03:27Z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